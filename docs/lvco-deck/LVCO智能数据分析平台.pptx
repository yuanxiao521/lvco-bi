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BB5A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2286000"/>
            <a:ext cx="5486400" cy="5486400"/>
          </a:xfrm>
          <a:prstGeom prst="ellipse">
            <a:avLst/>
          </a:prstGeom>
          <a:solidFill>
            <a:srgbClr val="6C7BF2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2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LVCO智能数据分析平台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零 SQL · 全拖拽 · AI 驱动 · 轻量级私有化 BI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731520" y="3200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数据源接入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2514600" y="3200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自由画布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1" name="Text 9"/>
          <p:cNvSpPr/>
          <p:nvPr/>
        </p:nvSpPr>
        <p:spPr>
          <a:xfrm>
            <a:off x="4114800" y="32004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AI 助手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3" name="Text 11"/>
          <p:cNvSpPr/>
          <p:nvPr/>
        </p:nvSpPr>
        <p:spPr>
          <a:xfrm>
            <a:off x="5532120" y="3200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智能洞察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480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7A8"/>
                </a:solidFill>
              </a:rPr>
              <a:t>LVCO 研发团队 · 2026-07</a:t>
            </a:r>
            <a:endParaRPr lang="en-US" sz="1000" dirty="0"/>
          </a:p>
        </p:txBody>
      </p:sp>
      <p:sp>
        <p:nvSpPr>
          <p:cNvPr id="1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B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12801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</a:rPr>
              <a:t>项目定位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280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7620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8B97A8"/>
                </a:solidFill>
              </a:rPr>
              <a:t>零 SQL 智能数据分析平台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40080" y="201168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B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0" y="20116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</a:rPr>
              <a:t>核心功能全景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7620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8B97A8"/>
                </a:solidFill>
              </a:rPr>
              <a:t>12 大模块覆盖完整 BI 流程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3" name="Text 11"/>
          <p:cNvSpPr/>
          <p:nvPr/>
        </p:nvSpPr>
        <p:spPr>
          <a:xfrm>
            <a:off x="640080" y="274320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B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80160" y="27432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</a:rPr>
              <a:t>系统架构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2743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7620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8B97A8"/>
                </a:solidFill>
              </a:rPr>
              <a:t>四层架构 · DuckDB 统一查询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7" name="Text 15"/>
          <p:cNvSpPr/>
          <p:nvPr/>
        </p:nvSpPr>
        <p:spPr>
          <a:xfrm>
            <a:off x="640080" y="34747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B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80160" y="34747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</a:rPr>
              <a:t>数据库 E-R 图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474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7620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8B97A8"/>
                </a:solidFill>
              </a:rPr>
              <a:t>9 张核心表关系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1" name="Text 19"/>
          <p:cNvSpPr/>
          <p:nvPr/>
        </p:nvSpPr>
        <p:spPr>
          <a:xfrm>
            <a:off x="640080" y="420624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B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80160" y="42062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</a:rPr>
              <a:t>核心代码模块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42062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7620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8B97A8"/>
                </a:solidFill>
              </a:rPr>
              <a:t>Query Engine / LLM Client / AI Service</a:t>
            </a:r>
            <a:endParaRPr lang="en-US" sz="1100" dirty="0"/>
          </a:p>
        </p:txBody>
      </p:sp>
      <p:sp>
        <p:nvSpPr>
          <p:cNvPr id="2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项目定位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7A8"/>
                </a:solidFill>
              </a:rPr>
              <a:t>零 SQL · 全拖拽 · AI 驱动的轻量级 BI 平台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68580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463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</a:rPr>
              <a:t>多源数据接入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8288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7A8"/>
                </a:solidFill>
              </a:rPr>
              <a:t>CSV / Excel / PG / MySQL，统一抽象为 Datasource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493776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49240" y="1463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</a:rPr>
              <a:t>自由画布拖拽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49240" y="18288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7A8"/>
                </a:solidFill>
              </a:rPr>
              <a:t>14 种图表、字段拖拽 + AI 推荐，无需写 SQL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7" name="Text 15"/>
          <p:cNvSpPr/>
          <p:nvPr/>
        </p:nvSpPr>
        <p:spPr>
          <a:xfrm>
            <a:off x="68580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2834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</a:rPr>
              <a:t>AI 智能辅助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2004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7A8"/>
                </a:solidFill>
              </a:rPr>
              <a:t>LLM 推荐图表、解读图表、清洗字段、数据问答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2" name="Text 20"/>
          <p:cNvSpPr/>
          <p:nvPr/>
        </p:nvSpPr>
        <p:spPr>
          <a:xfrm>
            <a:off x="493776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49240" y="2834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</a:rPr>
              <a:t>协作与治理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49240" y="32004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7A8"/>
                </a:solidFill>
              </a:rPr>
              <a:t>三级权限 + 操作审计 + 回收站 + 通知中心</a:t>
            </a:r>
            <a:endParaRPr lang="en-US" sz="1100" dirty="0"/>
          </a:p>
        </p:txBody>
      </p:sp>
      <p:sp>
        <p:nvSpPr>
          <p:cNvPr id="2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核心功能全景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7A8"/>
                </a:solidFill>
              </a:rPr>
              <a:t>12 大模块 · 覆盖完整 BI 流程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7A8"/>
                </a:solidFill>
              </a:rPr>
              <a:t>数据接入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</a:rPr>
              <a:t>📥 数据源管理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</a:rPr>
              <a:t>CSV/Excel 上传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</a:rPr>
              <a:t>PG/MySQL 连接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</a:rPr>
              <a:t>AI 清洗预览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3520440" y="12801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7A8"/>
                </a:solidFill>
              </a:rPr>
              <a:t>可视化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0440" y="17830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</a:rPr>
              <a:t>🎨 自由画布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21031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</a:rPr>
              <a:t>14 种图表混排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</a:rPr>
              <a:t>AI 推荐图表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</a:rPr>
              <a:t>拖拽式交互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7" name="Text 15"/>
          <p:cNvSpPr/>
          <p:nvPr/>
        </p:nvSpPr>
        <p:spPr>
          <a:xfrm>
            <a:off x="6400800" y="12801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7A8"/>
                </a:solidFill>
              </a:rPr>
              <a:t>协作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17830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</a:rPr>
              <a:t>📊 仪表盘报表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21031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</a:rPr>
              <a:t>多图表网格布局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</a:rPr>
              <a:t>公开分享 token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</a:rPr>
              <a:t>PDF/HTML 导出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2" name="Text 20"/>
          <p:cNvSpPr/>
          <p:nvPr/>
        </p:nvSpPr>
        <p:spPr>
          <a:xfrm>
            <a:off x="640080" y="3108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7A8"/>
                </a:solidFill>
              </a:rPr>
              <a:t>智能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6118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</a:rPr>
              <a:t>🤖 AI 助手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39319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</a:rPr>
              <a:t>SSE 流式对话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</a:rPr>
              <a:t>自然语言查数据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</a:rPr>
              <a:t>图表解读与推荐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7" name="Text 25"/>
          <p:cNvSpPr/>
          <p:nvPr/>
        </p:nvSpPr>
        <p:spPr>
          <a:xfrm>
            <a:off x="3520440" y="3108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7A8"/>
                </a:solidFill>
              </a:rPr>
              <a:t>治理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20440" y="36118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</a:rPr>
              <a:t>🔐 权限审计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20440" y="39319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</a:rPr>
              <a:t>三级角色权限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</a:rPr>
              <a:t>操作日志记录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</a:rPr>
              <a:t>回收站保护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1" name="Shape 2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2" name="Text 30"/>
          <p:cNvSpPr/>
          <p:nvPr/>
        </p:nvSpPr>
        <p:spPr>
          <a:xfrm>
            <a:off x="6400800" y="3108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7A8"/>
                </a:solidFill>
              </a:rPr>
              <a:t>通知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36118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</a:rPr>
              <a:t>🔔 通知中心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0" y="39319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</a:rPr>
              <a:t>SSE 实时推送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</a:rPr>
              <a:t>已读/未读管理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</a:rPr>
              <a:t>按类型筛选</a:t>
            </a:r>
            <a:endParaRPr lang="en-US" sz="1000" dirty="0"/>
          </a:p>
        </p:txBody>
      </p:sp>
      <p:sp>
        <p:nvSpPr>
          <p:cNvPr id="3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系统架构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7A8"/>
                </a:solidFill>
              </a:rPr>
              <a:t>四层架构 · DuckDB 统一查询 · LLM 统一收敛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展示层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1463040" y="123444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⚛️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12801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</a:rPr>
              <a:t>React 19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16002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7A8"/>
                </a:solidFill>
              </a:rPr>
              <a:t>Vite + Tailwind v4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4069080" y="123444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34840" y="12801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</a:rPr>
              <a:t>ECharts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34840" y="16002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7A8"/>
                </a:solidFill>
              </a:rPr>
              <a:t>14 种图表 SVG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6" name="Text 14"/>
          <p:cNvSpPr/>
          <p:nvPr/>
        </p:nvSpPr>
        <p:spPr>
          <a:xfrm>
            <a:off x="6675120" y="123444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40880" y="12801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</a:rPr>
              <a:t>Zustand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40880" y="16002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7A8"/>
                </a:solidFill>
              </a:rPr>
              <a:t>SSE + 状态管理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0" name="Text 18"/>
          <p:cNvSpPr/>
          <p:nvPr/>
        </p:nvSpPr>
        <p:spPr>
          <a:xfrm>
            <a:off x="457200" y="214884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32"/>
                </a:solidFill>
              </a:rPr>
              <a:t>API 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2" name="Text 20"/>
          <p:cNvSpPr/>
          <p:nvPr/>
        </p:nvSpPr>
        <p:spPr>
          <a:xfrm>
            <a:off x="1463040" y="214884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🚀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828800" y="21945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</a:rPr>
              <a:t>FastAPI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28800" y="25146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7A8"/>
                </a:solidFill>
              </a:rPr>
              <a:t>REST + SSE 流式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6" name="Text 24"/>
          <p:cNvSpPr/>
          <p:nvPr/>
        </p:nvSpPr>
        <p:spPr>
          <a:xfrm>
            <a:off x="4069080" y="214884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434840" y="21945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</a:rPr>
              <a:t>JWT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34840" y="25146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7A8"/>
                </a:solidFill>
              </a:rPr>
              <a:t>bcrypt + 角色校验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0" name="Text 28"/>
          <p:cNvSpPr/>
          <p:nvPr/>
        </p:nvSpPr>
        <p:spPr>
          <a:xfrm>
            <a:off x="6675120" y="214884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⛓️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40880" y="21945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</a:rPr>
              <a:t>Middleware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40880" y="25146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7A8"/>
                </a:solidFill>
              </a:rPr>
              <a:t>CORS/审计/限流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4" name="Text 32"/>
          <p:cNvSpPr/>
          <p:nvPr/>
        </p:nvSpPr>
        <p:spPr>
          <a:xfrm>
            <a:off x="457200" y="306324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32"/>
                </a:solidFill>
              </a:rPr>
              <a:t>业务层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6" name="Text 34"/>
          <p:cNvSpPr/>
          <p:nvPr/>
        </p:nvSpPr>
        <p:spPr>
          <a:xfrm>
            <a:off x="1463040" y="306324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🧩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828800" y="31089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</a:rPr>
              <a:t>Services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828800" y="34290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7A8"/>
                </a:solidFill>
              </a:rPr>
              <a:t>canvas / dashboard / report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0" name="Text 38"/>
          <p:cNvSpPr/>
          <p:nvPr/>
        </p:nvSpPr>
        <p:spPr>
          <a:xfrm>
            <a:off x="4069080" y="306324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434840" y="31089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</a:rPr>
              <a:t>AI Engine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434840" y="34290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7A8"/>
                </a:solidFill>
              </a:rPr>
              <a:t>llm_client + agent_tools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4" name="Text 42"/>
          <p:cNvSpPr/>
          <p:nvPr/>
        </p:nvSpPr>
        <p:spPr>
          <a:xfrm>
            <a:off x="6675120" y="306324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040880" y="31089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</a:rPr>
              <a:t>AI Service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040880" y="34290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7A8"/>
                </a:solidFill>
              </a:rPr>
              <a:t>数据查询/图表解读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8" name="Text 46"/>
          <p:cNvSpPr/>
          <p:nvPr/>
        </p:nvSpPr>
        <p:spPr>
          <a:xfrm>
            <a:off x="457200" y="397764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32"/>
                </a:solidFill>
              </a:rPr>
              <a:t>数据层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0" name="Text 48"/>
          <p:cNvSpPr/>
          <p:nvPr/>
        </p:nvSpPr>
        <p:spPr>
          <a:xfrm>
            <a:off x="1463040" y="397764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🐘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828800" y="40233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</a:rPr>
              <a:t>PostgreSQL 16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828800" y="43434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7A8"/>
                </a:solidFill>
              </a:rPr>
              <a:t>事务性业务元数据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4" name="Text 52"/>
          <p:cNvSpPr/>
          <p:nvPr/>
        </p:nvSpPr>
        <p:spPr>
          <a:xfrm>
            <a:off x="4069080" y="397764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🦆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4434840" y="40233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</a:rPr>
              <a:t>DuckDB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434840" y="43434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7A8"/>
                </a:solidFill>
              </a:rPr>
              <a:t>OLAP 统一查询引擎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8" name="Text 56"/>
          <p:cNvSpPr/>
          <p:nvPr/>
        </p:nvSpPr>
        <p:spPr>
          <a:xfrm>
            <a:off x="6675120" y="397764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📦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7040880" y="40233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</a:rPr>
              <a:t>Redis + MinIO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040880" y="43434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7A8"/>
                </a:solidFill>
              </a:rPr>
              <a:t>缓存 + 对象存储</a:t>
            </a:r>
            <a:endParaRPr lang="en-US" sz="900" dirty="0"/>
          </a:p>
        </p:txBody>
      </p:sp>
      <p:sp>
        <p:nvSpPr>
          <p:cNvPr id="6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数据库 E-R 图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7A8"/>
                </a:solidFill>
              </a:rPr>
              <a:t>9 张核心表 · PostgreSQL + DuckDB 双引擎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</a:rPr>
              <a:t>实体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1828800" y="1234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</a:rPr>
              <a:t>字段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548640" y="155448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B5A0"/>
                </a:solidFill>
              </a:rPr>
              <a:t>用户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155448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邮箱、密码、角色(admin/editor/viewer)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3" name="Text 11"/>
          <p:cNvSpPr/>
          <p:nvPr/>
        </p:nvSpPr>
        <p:spPr>
          <a:xfrm>
            <a:off x="548640" y="1993392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B5A0"/>
                </a:solidFill>
              </a:rPr>
              <a:t>数据源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199339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类型(csv/excel/mysql/postgresql)、schema_meta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6" name="Text 14"/>
          <p:cNvSpPr/>
          <p:nvPr/>
        </p:nvSpPr>
        <p:spPr>
          <a:xfrm>
            <a:off x="548640" y="2432304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B5A0"/>
                </a:solidFill>
              </a:rPr>
              <a:t>图表配置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2432304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14 种 chartType、query_config、render_config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9" name="Text 17"/>
          <p:cNvSpPr/>
          <p:nvPr/>
        </p:nvSpPr>
        <p:spPr>
          <a:xfrm>
            <a:off x="548640" y="2871216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B5A0"/>
                </a:solidFill>
              </a:rPr>
              <a:t>画布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2871216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blocks JSON、软删除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2" name="Text 20"/>
          <p:cNvSpPr/>
          <p:nvPr/>
        </p:nvSpPr>
        <p:spPr>
          <a:xfrm>
            <a:off x="457200" y="3246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</a:rPr>
              <a:t>实体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4" name="Text 22"/>
          <p:cNvSpPr/>
          <p:nvPr/>
        </p:nvSpPr>
        <p:spPr>
          <a:xfrm>
            <a:off x="182880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</a:rPr>
              <a:t>字段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6" name="Text 24"/>
          <p:cNvSpPr/>
          <p:nvPr/>
        </p:nvSpPr>
        <p:spPr>
          <a:xfrm>
            <a:off x="548640" y="356616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B5A0"/>
                </a:solidFill>
              </a:rPr>
              <a:t>仪表盘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920240" y="356616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layout、share_token、refresh_interval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9" name="Text 27"/>
          <p:cNvSpPr/>
          <p:nvPr/>
        </p:nvSpPr>
        <p:spPr>
          <a:xfrm>
            <a:off x="548640" y="4005072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B5A0"/>
                </a:solidFill>
              </a:rPr>
              <a:t>报表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920240" y="400507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snapshot_blocks、四种来源、分享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2" name="Text 30"/>
          <p:cNvSpPr/>
          <p:nvPr/>
        </p:nvSpPr>
        <p:spPr>
          <a:xfrm>
            <a:off x="548640" y="4443984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B5A0"/>
                </a:solidFill>
              </a:rPr>
              <a:t>AI 会话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920240" y="4443984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会话 + 消息 (user/assistant/tool)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5" name="Text 33"/>
          <p:cNvSpPr/>
          <p:nvPr/>
        </p:nvSpPr>
        <p:spPr>
          <a:xfrm>
            <a:off x="4754880" y="1234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</a:rPr>
              <a:t>实体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7" name="Text 35"/>
          <p:cNvSpPr/>
          <p:nvPr/>
        </p:nvSpPr>
        <p:spPr>
          <a:xfrm>
            <a:off x="6126480" y="1234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</a:rPr>
              <a:t>字段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9" name="Text 37"/>
          <p:cNvSpPr/>
          <p:nvPr/>
        </p:nvSpPr>
        <p:spPr>
          <a:xfrm>
            <a:off x="4846320" y="155448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B5A0"/>
                </a:solidFill>
              </a:rPr>
              <a:t>通知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17920" y="155448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类型(info/success/warning/error)、已读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2" name="Text 40"/>
          <p:cNvSpPr/>
          <p:nvPr/>
        </p:nvSpPr>
        <p:spPr>
          <a:xfrm>
            <a:off x="4846320" y="1993392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B5A0"/>
                </a:solidFill>
              </a:rPr>
              <a:t>操作日志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17920" y="199339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path/method/status_code/IP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5" name="Text 43"/>
          <p:cNvSpPr/>
          <p:nvPr/>
        </p:nvSpPr>
        <p:spPr>
          <a:xfrm>
            <a:off x="493776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</a:rPr>
              <a:t>核心关系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937760" y="365760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 ──→ DATASOURCES / CANVASES / DASHBOARDS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937760" y="391363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 ──→ REPORTS / AI_SESSIONS / NOTIFICATIONS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937760" y="416966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DATASOURCES ──→ CHART_CONFIGS / CANVASES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937760" y="442569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DASHBOARDS ──→ DASHBOARD_CHARTS ←── CHART_CONFIGS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937760" y="468172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AI_SESSIONS ──→ AI_MESSAGES</a:t>
            </a:r>
            <a:endParaRPr lang="en-US" sz="900" dirty="0"/>
          </a:p>
        </p:txBody>
      </p:sp>
      <p:sp>
        <p:nvSpPr>
          <p:cNvPr id="5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核心代码模块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7A8"/>
                </a:solidFill>
              </a:rPr>
              <a:t>三大核心模块 · 可粘贴实际源码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query_engine.py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731520" y="18288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A2F7"/>
                </a:solidFill>
              </a:rPr>
              <a:t>🦆 DuckDB 统一查询引擎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5F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DuckDB ATTACH + read_csv_auto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65F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字段白名单防护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65F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结果 LIMIT 10000 + 30s 超时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粘贴实际代码到这里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4" name="Text 12"/>
          <p:cNvSpPr/>
          <p:nvPr/>
        </p:nvSpPr>
        <p:spPr>
          <a:xfrm>
            <a:off x="3520440" y="12344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llm_client.py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6" name="Text 14"/>
          <p:cNvSpPr/>
          <p:nvPr/>
        </p:nvSpPr>
        <p:spPr>
          <a:xfrm>
            <a:off x="3611880" y="18288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A2F7"/>
                </a:solidFill>
              </a:rPr>
              <a:t>🤖 LLM 统一入口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11880" y="219456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5F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 兼容协议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65F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stream_chat / complete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65F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stream_chat_with_tools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11880" y="39319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粘贴实际代码到这里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1" name="Text 19"/>
          <p:cNvSpPr/>
          <p:nvPr/>
        </p:nvSpPr>
        <p:spPr>
          <a:xfrm>
            <a:off x="6400800" y="12344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ai_service.py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3" name="Text 21"/>
          <p:cNvSpPr/>
          <p:nvPr/>
        </p:nvSpPr>
        <p:spPr>
          <a:xfrm>
            <a:off x="6492240" y="18288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A2F7"/>
                </a:solidFill>
              </a:rPr>
              <a:t>🔍 AI 业务编排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219456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5F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agent_stream ReAct Agent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65F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recommend_charts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65F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interpret_chart / query_data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92240" y="39319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粘贴实际代码到这里</a:t>
            </a:r>
            <a:endParaRPr lang="en-US" sz="800" dirty="0"/>
          </a:p>
        </p:txBody>
      </p:sp>
      <p:sp>
        <p:nvSpPr>
          <p:cNvPr id="2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2BB5A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1828800"/>
            <a:ext cx="6400800" cy="6400800"/>
          </a:xfrm>
          <a:prstGeom prst="ellipse">
            <a:avLst/>
          </a:prstGeom>
          <a:solidFill>
            <a:srgbClr val="6C7BF2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371600"/>
            <a:ext cx="9144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谢谢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0" y="3108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BB5A0"/>
                </a:solidFill>
              </a:rPr>
              <a:t>LVCO 智能数据分析平台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3566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7A8"/>
                </a:solidFill>
              </a:rPr>
              <a:t>零 SQL 自助分析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43891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7A8"/>
                </a:solidFill>
              </a:rPr>
              <a:t>LVCO 研发团队 · 2026-07</a:t>
            </a:r>
            <a:endParaRPr lang="en-US" sz="1100" dirty="0"/>
          </a:p>
        </p:txBody>
      </p:sp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LVCO智能数据分析平台</dc:title>
  <dc:subject>PptxGenJS Presentation</dc:subject>
  <dc:creator>LVCO 研发团队</dc:creator>
  <cp:lastModifiedBy>LVCO 研发团队</cp:lastModifiedBy>
  <cp:revision>1</cp:revision>
  <dcterms:created xsi:type="dcterms:W3CDTF">2026-07-28T07:31:13Z</dcterms:created>
  <dcterms:modified xsi:type="dcterms:W3CDTF">2026-07-28T07:31:13Z</dcterms:modified>
</cp:coreProperties>
</file>